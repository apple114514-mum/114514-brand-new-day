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1051560"/>
            <a:ext cx="61264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</a:rPr>
              <a:t>尺度分析 ×</a:t>
            </a:r>
            <a:br/>
            <a:r>
              <a:rPr sz="3400" b="1">
                <a:solidFill>
                  <a:srgbClr val="FFFFFF"/>
                </a:solidFill>
                <a:latin typeface="Noto Sans CJK SC"/>
              </a:rPr>
              <a:t>全局敏感性分析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816352"/>
            <a:ext cx="6217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Noto Sans CJK SC"/>
              </a:rPr>
              <a:t>核热工水力事故中的尺度失真与模型敏感性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703320"/>
            <a:ext cx="6217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S. Carnevali 等</a:t>
            </a:r>
            <a:br/>
            <a:r>
              <a:rPr sz="1500" b="0">
                <a:solidFill>
                  <a:srgbClr val="FFFFFF"/>
                </a:solidFill>
                <a:latin typeface="Noto Sans CJK SC"/>
              </a:rPr>
              <a:t>Nuclear Engineering and Design 444 (2025) 114409</a:t>
            </a:r>
            <a:br/>
            <a:r>
              <a:rPr sz="1500" b="0">
                <a:solidFill>
                  <a:srgbClr val="FFFFFF"/>
                </a:solidFill>
                <a:latin typeface="Noto Sans CJK SC"/>
              </a:rPr>
              <a:t>DOI: 10.1016/j.nucengdes.2025.114409</a:t>
            </a:r>
          </a:p>
        </p:txBody>
      </p:sp>
      <p:pic>
        <p:nvPicPr>
          <p:cNvPr id="6" name="Picture 5" descr="page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707135"/>
            <a:ext cx="4041648" cy="5388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35040"/>
            <a:ext cx="6766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Noto Sans CJK SC"/>
              </a:rPr>
              <a:t>分析采用 Norman Paper2ppt / norman-paper2ppt 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67665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Noto Sans CJK SC"/>
              </a:rPr>
              <a:t>技能作者：小红书：N同学，抖音/B站：耐心的N同学。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同一事故，三种尺度，两条证据链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52144"/>
            <a:ext cx="6519672" cy="987552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研究背景</a:t>
            </a:r>
            <a:br/>
            <a:r>
              <a:rPr sz="1800" b="0">
                <a:solidFill>
                  <a:srgbClr val="12243A"/>
                </a:solidFill>
                <a:latin typeface="Noto Sans CJK SC"/>
              </a:rPr>
              <a:t>缩比设施不可能同时保持全部过程相似；设计差异会影响事故代表性。</a:t>
            </a:r>
          </a:p>
        </p:txBody>
      </p:sp>
      <p:pic>
        <p:nvPicPr>
          <p:cNvPr id="5" name="Picture 4" descr="equation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" y="2702283"/>
            <a:ext cx="6583680" cy="240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79208" y="1161288"/>
            <a:ext cx="4069080" cy="192024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2243A"/>
                </a:solidFill>
                <a:latin typeface="Noto Sans CJK SC"/>
              </a:rPr>
              <a:t>技术路线</a:t>
            </a:r>
            <a:br/>
            <a:r>
              <a:rPr sz="1700" b="0">
                <a:solidFill>
                  <a:srgbClr val="12243A"/>
                </a:solidFill>
                <a:latin typeface="Noto Sans CJK SC"/>
              </a:rPr>
              <a:t>尺度方程 → 主导过程与可能失真</a:t>
            </a:r>
            <a:br/>
            <a:r>
              <a:rPr sz="1700" b="0">
                <a:solidFill>
                  <a:srgbClr val="12243A"/>
                </a:solidFill>
                <a:latin typeface="Noto Sans CJK SC"/>
              </a:rPr>
              <a:t>GSA → 闭合模型影响及敏感区间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208" y="3328416"/>
            <a:ext cx="4069080" cy="2121408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2243A"/>
                </a:solidFill>
                <a:latin typeface="Noto Sans CJK SC"/>
              </a:rPr>
              <a:t>数据方法</a:t>
            </a:r>
            <a:br/>
            <a:r>
              <a:rPr sz="1700" b="0">
                <a:solidFill>
                  <a:srgbClr val="12243A"/>
                </a:solidFill>
                <a:latin typeface="Noto Sans CJK SC"/>
              </a:rPr>
              <a:t>6% 冷段 SB-LOCA；BETHSY、LSTF、参考 PWR；每尺度 500 次 CATHARE 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EQUATION-3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守恒方程定位过程，GSA检查模型影响</a:t>
            </a:r>
          </a:p>
        </p:txBody>
      </p:sp>
      <p:pic>
        <p:nvPicPr>
          <p:cNvPr id="4" name="Picture 3" descr="fi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996" y="1280160"/>
            <a:ext cx="9022958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尺度分析以质量、能量和压力守恒追踪体积源汇；GSA 用散点、平行坐标及 HSIC/PLI 识别敏感区间。两种方法回答的层级不同：过程贡献不等于闭合模型敏感性。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排空阶段：尺度过程与GSA排序相互印证</a:t>
            </a:r>
          </a:p>
        </p:txBody>
      </p:sp>
      <p:pic>
        <p:nvPicPr>
          <p:cNvPr id="4" name="Picture 3" descr="fig-2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37" y="1280160"/>
            <a:ext cx="10236677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FoM 为稳压器排空时间。图 2 的 HSIC/PLI 和 p 值显示壁面传热、破口闪蒸等模型的敏感性；表 1 列出对应压力方程的过程贡献。两组量不可直接相减或当成失真幅度。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稳压器传热的作用随尺度变化</a:t>
            </a:r>
          </a:p>
        </p:txBody>
      </p:sp>
      <p:pic>
        <p:nvPicPr>
          <p:cNvPr id="4" name="Picture 3" descr="fig-3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76850"/>
            <a:ext cx="10927080" cy="27441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图 3：BETHSY、LSTF 随传热参数增大，排空时间下降；PWR 下降后趋于平缓。作者明确没有继续研究 PWR 平缓区原因。模型响应差异是潜在失真线索，不是原因证明。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破口闪蒸增强，排空时间趋于延长</a:t>
            </a:r>
          </a:p>
        </p:txBody>
      </p:sp>
      <p:pic>
        <p:nvPicPr>
          <p:cNvPr id="4" name="Picture 3" descr="fi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349941"/>
            <a:ext cx="10927080" cy="3197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图 4 在三种尺度均显示上升趋势；作者解释为蒸汽增加使破口临界流减小。散点仍有分散，证据来自代码敏感性分析，尚非独立实验因果验证。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回流冷凝：BETHSY芯部沸腾贡献更高</a:t>
            </a:r>
          </a:p>
        </p:txBody>
      </p:sp>
      <p:pic>
        <p:nvPicPr>
          <p:cNvPr id="4" name="Picture 3" descr="tabl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620648"/>
            <a:ext cx="10927080" cy="2656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表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表 2：芯部壁面沸腾的相对压力方程贡献为 BETHSY 0.997、LSTF 0.796、PWR 0.727。BETHSY 的芯部壁面对蒸汽传热项也更显著。相对贡献不是 PCT 偏差。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Table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压力交叉的敏感过程发生分叉</a:t>
            </a:r>
          </a:p>
        </p:txBody>
      </p:sp>
      <p:pic>
        <p:nvPicPr>
          <p:cNvPr id="4" name="Picture 3" descr="fig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75" y="1280160"/>
            <a:ext cx="10140600" cy="3337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FoM 改为一、二回路压力交叉时间。图 5：BETHSY 突出破口闪蒸和 MSFT；LSTF/PWR 突出破口闪蒸与二次侧核态沸腾。相同事故的敏感模型不必相同。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BETHSY：MSFT影响压力交叉</a:t>
            </a:r>
          </a:p>
        </p:txBody>
      </p:sp>
      <p:pic>
        <p:nvPicPr>
          <p:cNvPr id="4" name="Picture 3" descr="fig-6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20850"/>
            <a:ext cx="10927080" cy="30561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114300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图 6：破口闪蒸和最低稳定膜温 MSFT 增加，压力交叉时间总体趋晚。作者将其与较长干涸、再润湿和蒸汽生成关联；该解释受闭合模型有效性制约。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LSTF与PWR：二次侧沸腾响应不同</a:t>
            </a:r>
          </a:p>
        </p:txBody>
      </p:sp>
      <p:pic>
        <p:nvPicPr>
          <p:cNvPr id="4" name="Picture 3" descr="fig-7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9989"/>
            <a:ext cx="5477256" cy="1507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617720"/>
            <a:ext cx="53035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7</a:t>
            </a:r>
          </a:p>
        </p:txBody>
      </p:sp>
      <p:pic>
        <p:nvPicPr>
          <p:cNvPr id="6" name="Picture 5" descr="fig-8-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199989"/>
            <a:ext cx="5477256" cy="1507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617720"/>
            <a:ext cx="53035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4919472"/>
            <a:ext cx="10945368" cy="118872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图 7–8：破口闪蒸增强均倾向延后交叉；二次侧核态沸腾增强则倾向使交叉提前或趋稳。散点分散，PWR 与 LSTF 的趋势强弱并不完全相同。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7, Fig.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从识别失真到判定可接受性，仍有一步</a:t>
            </a:r>
          </a:p>
        </p:txBody>
      </p:sp>
      <p:pic>
        <p:nvPicPr>
          <p:cNvPr id="4" name="Picture 3" descr="fig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55744"/>
            <a:ext cx="7242048" cy="42677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7575" y="1389888"/>
            <a:ext cx="3483864" cy="4434840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2243A"/>
                </a:solidFill>
                <a:latin typeface="Noto Sans CJK SC"/>
              </a:rPr>
              <a:t>图 9 将尺度分析的失真识别（7a）与 GSA 支持的影响量化（7b）连接。作者建议逐项失真校正并观察 FoM 变化；本文尚未完成通用容许阈值与跨工况验证。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44184"/>
            <a:ext cx="7040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45363"/>
                </a:solidFill>
                <a:latin typeface="Noto Sans CJK SC"/>
              </a:rPr>
              <a:t>原文 图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  |  原文 Fig.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" y="128016"/>
            <a:ext cx="11301984" cy="694944"/>
          </a:xfrm>
          <a:prstGeom prst="rect">
            <a:avLst/>
          </a:prstGeom>
          <a:solidFill>
            <a:srgbClr val="12243A"/>
          </a:solidFill>
        </p:spPr>
        <p:txBody>
          <a:bodyPr wrap="square" anchor="ctr" lIns="137160" rIns="137160" tIns="68580" bIns="6858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组合分析能定位问题，判据仍需实证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6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87F8C"/>
                </a:solidFill>
                <a:latin typeface="Noto Sans CJK SC"/>
              </a:rPr>
              <a:t>识别 → 量化 → 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77440"/>
            <a:ext cx="6675120" cy="978408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2243A"/>
                </a:solidFill>
                <a:latin typeface="Noto Sans CJK SC"/>
              </a:rPr>
              <a:t>研究创新</a:t>
            </a:r>
            <a:br/>
            <a:r>
              <a:rPr sz="1900" b="0">
                <a:solidFill>
                  <a:srgbClr val="12243A"/>
                </a:solidFill>
                <a:latin typeface="Noto Sans CJK SC"/>
              </a:rPr>
              <a:t>在同一 6% SB-LOCA 案例中并列检验尺度方程与 GSA。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502152"/>
            <a:ext cx="6675120" cy="1078992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2243A"/>
                </a:solidFill>
                <a:latin typeface="Noto Sans CJK SC"/>
              </a:rPr>
              <a:t>研究结论</a:t>
            </a:r>
            <a:br/>
            <a:r>
              <a:rPr sz="1900" b="0">
                <a:solidFill>
                  <a:srgbClr val="12243A"/>
                </a:solidFill>
                <a:latin typeface="Noto Sans CJK SC"/>
              </a:rPr>
              <a:t>主导过程大体相符；局部模型敏感项和响应形状显示尺度差异。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1572768"/>
            <a:ext cx="3730752" cy="1883664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研究启示</a:t>
            </a:r>
            <a:br/>
            <a:r>
              <a:rPr sz="1800" b="0">
                <a:solidFill>
                  <a:srgbClr val="12243A"/>
                </a:solidFill>
                <a:latin typeface="Noto Sans CJK SC"/>
              </a:rPr>
              <a:t>逐项校正失真、比较 FoM 变化，再验证更多事故情景。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3675887"/>
            <a:ext cx="3730752" cy="1389888"/>
          </a:xfrm>
          <a:prstGeom prst="rect">
            <a:avLst/>
          </a:prstGeom>
          <a:solidFill>
            <a:srgbClr val="EAF3F5"/>
          </a:solidFill>
        </p:spPr>
        <p:txBody>
          <a:bodyPr wrap="square" anchor="ctr" lIns="164592" rIns="164592" tIns="82296" bIns="8229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2243A"/>
                </a:solidFill>
                <a:latin typeface="Noto Sans CJK SC"/>
              </a:rPr>
              <a:t>证据边界</a:t>
            </a:r>
            <a:br/>
            <a:r>
              <a:rPr sz="1800" b="0">
                <a:solidFill>
                  <a:srgbClr val="12243A"/>
                </a:solidFill>
                <a:latin typeface="Noto Sans CJK SC"/>
              </a:rPr>
              <a:t>本文尚未给出通用容许阈值；数据保密，独立复现受限。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0881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Carnevali et al., NED 444 (2025) 114409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28816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445363"/>
                </a:solidFill>
                <a:latin typeface="Noto Sans CJK SC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